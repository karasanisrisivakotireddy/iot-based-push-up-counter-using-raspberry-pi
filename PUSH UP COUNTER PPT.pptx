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8" r:id="rId2"/>
    <p:sldId id="286" r:id="rId3"/>
    <p:sldId id="278" r:id="rId4"/>
    <p:sldId id="279" r:id="rId5"/>
    <p:sldId id="288" r:id="rId6"/>
    <p:sldId id="280" r:id="rId7"/>
    <p:sldId id="281" r:id="rId8"/>
    <p:sldId id="282" r:id="rId9"/>
    <p:sldId id="283" r:id="rId10"/>
    <p:sldId id="284" r:id="rId11"/>
    <p:sldId id="285" r:id="rId12"/>
    <p:sldId id="290" r:id="rId13"/>
    <p:sldId id="276" r:id="rId14"/>
    <p:sldId id="277" r:id="rId15"/>
    <p:sldId id="275" r:id="rId16"/>
    <p:sldId id="289" r:id="rId17"/>
    <p:sldId id="287" r:id="rId18"/>
    <p:sldId id="274"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13C0E-B1A1-41F6-820C-44C2C913EF19}" type="datetimeFigureOut">
              <a:rPr lang="en-IN" smtClean="0"/>
              <a:t>03-08-2024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E5E91A-03F9-4D50-81FA-42A5502BBFC9}" type="slidenum">
              <a:rPr lang="en-IN" smtClean="0"/>
              <a:t>‹#›</a:t>
            </a:fld>
            <a:endParaRPr lang="en-IN"/>
          </a:p>
        </p:txBody>
      </p:sp>
    </p:spTree>
    <p:extLst>
      <p:ext uri="{BB962C8B-B14F-4D97-AF65-F5344CB8AC3E}">
        <p14:creationId xmlns:p14="http://schemas.microsoft.com/office/powerpoint/2010/main" val="22696133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7</a:t>
            </a:fld>
            <a:endParaRPr lang="en-IN"/>
          </a:p>
        </p:txBody>
      </p:sp>
    </p:spTree>
    <p:extLst>
      <p:ext uri="{BB962C8B-B14F-4D97-AF65-F5344CB8AC3E}">
        <p14:creationId xmlns:p14="http://schemas.microsoft.com/office/powerpoint/2010/main" val="947801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8</a:t>
            </a:fld>
            <a:endParaRPr lang="en-IN"/>
          </a:p>
        </p:txBody>
      </p:sp>
    </p:spTree>
    <p:extLst>
      <p:ext uri="{BB962C8B-B14F-4D97-AF65-F5344CB8AC3E}">
        <p14:creationId xmlns:p14="http://schemas.microsoft.com/office/powerpoint/2010/main" val="30248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9</a:t>
            </a:fld>
            <a:endParaRPr lang="en-IN"/>
          </a:p>
        </p:txBody>
      </p:sp>
    </p:spTree>
    <p:extLst>
      <p:ext uri="{BB962C8B-B14F-4D97-AF65-F5344CB8AC3E}">
        <p14:creationId xmlns:p14="http://schemas.microsoft.com/office/powerpoint/2010/main" val="33889147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10</a:t>
            </a:fld>
            <a:endParaRPr lang="en-IN"/>
          </a:p>
        </p:txBody>
      </p:sp>
    </p:spTree>
    <p:extLst>
      <p:ext uri="{BB962C8B-B14F-4D97-AF65-F5344CB8AC3E}">
        <p14:creationId xmlns:p14="http://schemas.microsoft.com/office/powerpoint/2010/main" val="8359950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11</a:t>
            </a:fld>
            <a:endParaRPr lang="en-IN"/>
          </a:p>
        </p:txBody>
      </p:sp>
    </p:spTree>
    <p:extLst>
      <p:ext uri="{BB962C8B-B14F-4D97-AF65-F5344CB8AC3E}">
        <p14:creationId xmlns:p14="http://schemas.microsoft.com/office/powerpoint/2010/main" val="28473679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BE5E91A-03F9-4D50-81FA-42A5502BBFC9}" type="slidenum">
              <a:rPr lang="en-IN" smtClean="0"/>
              <a:t>12</a:t>
            </a:fld>
            <a:endParaRPr lang="en-IN"/>
          </a:p>
        </p:txBody>
      </p:sp>
    </p:spTree>
    <p:extLst>
      <p:ext uri="{BB962C8B-B14F-4D97-AF65-F5344CB8AC3E}">
        <p14:creationId xmlns:p14="http://schemas.microsoft.com/office/powerpoint/2010/main" val="5474236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8/3/2024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jset.in/wp-content/uploads/IJSET_V12_issue1_535.pdf" TargetMode="External"/><Relationship Id="rId2" Type="http://schemas.openxmlformats.org/officeDocument/2006/relationships/hyperlink" Target="https://www.youtube.com/watch?v=RLQWon4Zmao" TargetMode="External"/><Relationship Id="rId1" Type="http://schemas.openxmlformats.org/officeDocument/2006/relationships/slideLayout" Target="../slideLayouts/slideLayout2.xml"/><Relationship Id="rId4" Type="http://schemas.openxmlformats.org/officeDocument/2006/relationships/hyperlink" Target="https://aryanvij02.medium.com/push-ups-with-python-mediapipe-open-a544bd9b4351"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TITLE</a:t>
            </a:r>
          </a:p>
        </p:txBody>
      </p:sp>
      <p:sp>
        <p:nvSpPr>
          <p:cNvPr id="3" name="Content Placeholder 2"/>
          <p:cNvSpPr>
            <a:spLocks noGrp="1"/>
          </p:cNvSpPr>
          <p:nvPr>
            <p:ph idx="1"/>
          </p:nvPr>
        </p:nvSpPr>
        <p:spPr>
          <a:xfrm>
            <a:off x="76200" y="762000"/>
            <a:ext cx="8610600" cy="5821362"/>
          </a:xfrm>
        </p:spPr>
        <p:txBody>
          <a:bodyPr>
            <a:normAutofit/>
          </a:bodyPr>
          <a:lstStyle/>
          <a:p>
            <a:pPr marL="0" indent="0">
              <a:buNone/>
            </a:pPr>
            <a:r>
              <a:rPr lang="en-IN" dirty="0"/>
              <a:t>                                   </a:t>
            </a:r>
          </a:p>
          <a:p>
            <a:pPr marL="0" indent="0" algn="just">
              <a:buNone/>
            </a:pPr>
            <a:r>
              <a:rPr lang="en-IN" sz="3000" b="1" dirty="0"/>
              <a:t>               </a:t>
            </a:r>
            <a:r>
              <a:rPr lang="en-IN" sz="3000" b="1" dirty="0">
                <a:latin typeface="Times New Roman" panose="02020603050405020304" pitchFamily="18" charset="0"/>
                <a:cs typeface="Times New Roman" panose="02020603050405020304" pitchFamily="18" charset="0"/>
              </a:rPr>
              <a:t>IoT BASED PUSH-UP COUNTER </a:t>
            </a:r>
          </a:p>
          <a:p>
            <a:pPr marL="0" indent="0" algn="just">
              <a:buNone/>
            </a:pPr>
            <a:r>
              <a:rPr lang="en-IN" sz="3000" b="1" dirty="0">
                <a:latin typeface="Times New Roman" panose="02020603050405020304" pitchFamily="18" charset="0"/>
                <a:cs typeface="Times New Roman" panose="02020603050405020304" pitchFamily="18" charset="0"/>
              </a:rPr>
              <a:t>                     USING RASPBERRY PI                           </a:t>
            </a:r>
          </a:p>
          <a:p>
            <a:pPr marL="0" indent="0" algn="just">
              <a:buNone/>
            </a:pPr>
            <a:r>
              <a:rPr lang="en-IN" sz="2800" dirty="0"/>
              <a:t>                          </a:t>
            </a:r>
          </a:p>
          <a:p>
            <a:pPr marL="0" indent="0" algn="ctr">
              <a:buNone/>
            </a:pPr>
            <a:r>
              <a:rPr lang="en-IN" sz="2400" dirty="0">
                <a:latin typeface="Times New Roman" panose="02020603050405020304" pitchFamily="18" charset="0"/>
                <a:cs typeface="Times New Roman" panose="02020603050405020304" pitchFamily="18" charset="0"/>
              </a:rPr>
              <a:t>PROJECT BATCH : B-17             </a:t>
            </a:r>
          </a:p>
          <a:p>
            <a:pPr marL="0" indent="0">
              <a:buNone/>
            </a:pPr>
            <a:endParaRPr lang="en-IN" sz="2400" b="1" dirty="0">
              <a:solidFill>
                <a:schemeClr val="tx1">
                  <a:lumMod val="95000"/>
                </a:schemeClr>
              </a:solidFill>
              <a:latin typeface="Californian FB" pitchFamily="18" charset="0"/>
            </a:endParaRPr>
          </a:p>
          <a:p>
            <a:pPr marL="0" indent="0">
              <a:buNone/>
            </a:pPr>
            <a:endParaRPr lang="en-IN" sz="2000" b="1" dirty="0">
              <a:solidFill>
                <a:schemeClr val="tx1">
                  <a:lumMod val="95000"/>
                </a:schemeClr>
              </a:solidFill>
              <a:latin typeface="Californian FB" pitchFamily="18" charset="0"/>
            </a:endParaRPr>
          </a:p>
          <a:p>
            <a:pPr marL="0" indent="0">
              <a:buNone/>
            </a:pPr>
            <a:r>
              <a:rPr lang="en-IN" sz="2000" b="1" dirty="0">
                <a:solidFill>
                  <a:schemeClr val="tx1">
                    <a:lumMod val="95000"/>
                  </a:schemeClr>
                </a:solidFill>
                <a:latin typeface="Californian FB" pitchFamily="18" charset="0"/>
              </a:rPr>
              <a:t>PROJECT MEMBERS :                                                       PROJECT GUIDE :</a:t>
            </a:r>
            <a:endParaRPr lang="en-IN" sz="1500" dirty="0">
              <a:latin typeface="Times New Roman" panose="02020603050405020304" pitchFamily="18" charset="0"/>
              <a:cs typeface="Times New Roman" panose="02020603050405020304" pitchFamily="18" charset="0"/>
            </a:endParaRPr>
          </a:p>
          <a:p>
            <a:pPr marL="0" indent="0">
              <a:buNone/>
            </a:pPr>
            <a:r>
              <a:rPr lang="en-IN" sz="1500" dirty="0">
                <a:solidFill>
                  <a:schemeClr val="tx2">
                    <a:lumMod val="75000"/>
                  </a:schemeClr>
                </a:solidFill>
                <a:latin typeface="Times New Roman" panose="02020603050405020304" pitchFamily="18" charset="0"/>
                <a:cs typeface="Times New Roman" panose="02020603050405020304" pitchFamily="18" charset="0"/>
              </a:rPr>
              <a:t>P. PREM JAYAPAUL(21BQ1A04A1</a:t>
            </a:r>
            <a:r>
              <a:rPr lang="en-IN" sz="1800" dirty="0">
                <a:solidFill>
                  <a:schemeClr val="tx2">
                    <a:lumMod val="75000"/>
                  </a:schemeClr>
                </a:solidFill>
                <a:latin typeface="Times New Roman" panose="02020603050405020304" pitchFamily="18" charset="0"/>
                <a:cs typeface="Times New Roman" panose="02020603050405020304" pitchFamily="18" charset="0"/>
              </a:rPr>
              <a:t>)                                                DR. P. AMMI REDDY</a:t>
            </a:r>
          </a:p>
          <a:p>
            <a:pPr marL="0" indent="0">
              <a:buNone/>
            </a:pPr>
            <a:r>
              <a:rPr lang="en-IN" sz="1500" dirty="0">
                <a:solidFill>
                  <a:schemeClr val="tx2">
                    <a:lumMod val="75000"/>
                  </a:schemeClr>
                </a:solidFill>
                <a:latin typeface="Times New Roman" panose="02020603050405020304" pitchFamily="18" charset="0"/>
                <a:cs typeface="Times New Roman" panose="02020603050405020304" pitchFamily="18" charset="0"/>
              </a:rPr>
              <a:t>K. SIVA SAI KOTI REDDY(21BQ1A0459)                                            PROFESSOR,ECE Department BHAVANNARAYANA (22BQ5A0428)</a:t>
            </a:r>
          </a:p>
          <a:p>
            <a:pPr marL="0" indent="0">
              <a:buNone/>
            </a:pPr>
            <a:r>
              <a:rPr lang="en-IN" sz="1500" dirty="0">
                <a:solidFill>
                  <a:schemeClr val="tx2">
                    <a:lumMod val="75000"/>
                  </a:schemeClr>
                </a:solidFill>
                <a:latin typeface="Times New Roman" panose="02020603050405020304" pitchFamily="18" charset="0"/>
                <a:cs typeface="Times New Roman" panose="02020603050405020304" pitchFamily="18" charset="0"/>
              </a:rPr>
              <a:t>N. KIRAN KUMAR(21BQ1A0486)                                                                             </a:t>
            </a:r>
          </a:p>
        </p:txBody>
      </p:sp>
      <p:pic>
        <p:nvPicPr>
          <p:cNvPr id="5" name="Picture 4"/>
          <p:cNvPicPr>
            <a:picLocks noChangeAspect="1" noChangeArrowheads="1"/>
          </p:cNvPicPr>
          <p:nvPr/>
        </p:nvPicPr>
        <p:blipFill>
          <a:blip r:embed="rId2" cstate="print"/>
          <a:srcRect/>
          <a:stretch>
            <a:fillRect/>
          </a:stretch>
        </p:blipFill>
        <p:spPr bwMode="auto">
          <a:xfrm>
            <a:off x="0" y="228600"/>
            <a:ext cx="8001000" cy="838200"/>
          </a:xfrm>
          <a:prstGeom prst="rect">
            <a:avLst/>
          </a:prstGeom>
          <a:noFill/>
          <a:ln>
            <a:noFill/>
          </a:ln>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569FFB-6A57-4A7F-8D32-2E098EF67918}"/>
              </a:ext>
            </a:extLst>
          </p:cNvPr>
          <p:cNvSpPr>
            <a:spLocks noGrp="1"/>
          </p:cNvSpPr>
          <p:nvPr>
            <p:ph idx="1"/>
          </p:nvPr>
        </p:nvSpPr>
        <p:spPr>
          <a:xfrm>
            <a:off x="457200" y="762000"/>
            <a:ext cx="8229600" cy="5364163"/>
          </a:xfrm>
        </p:spPr>
        <p:txBody>
          <a:bodyPr>
            <a:normAutofit/>
          </a:bodyPr>
          <a:lstStyle/>
          <a:p>
            <a:pPr marL="0" indent="0">
              <a:buNone/>
            </a:pPr>
            <a:r>
              <a:rPr lang="en-US" dirty="0">
                <a:solidFill>
                  <a:srgbClr val="FF0000"/>
                </a:solidFill>
                <a:latin typeface="Times New Roman" panose="02020603050405020304" pitchFamily="18" charset="0"/>
                <a:cs typeface="Times New Roman" panose="02020603050405020304" pitchFamily="18" charset="0"/>
              </a:rPr>
              <a:t>TABLE OF CONTENTS :</a:t>
            </a:r>
          </a:p>
          <a:p>
            <a:pPr marL="0" indent="0">
              <a:buNone/>
            </a:pPr>
            <a:endParaRPr lang="en-US" sz="20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ABSTRACT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COMPONENTS USED</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BLOCK DIAGRAM</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FLOW CHART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OPERATION</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ADVANTAGES &amp; DISADVANTAGES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CONCLUSION</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4694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0578-8C97-4281-8A2A-57C8A7DF96A6}"/>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1B32C2FF-7384-4439-A63C-5AE0391EA959}"/>
              </a:ext>
            </a:extLst>
          </p:cNvPr>
          <p:cNvSpPr>
            <a:spLocks noGrp="1"/>
          </p:cNvSpPr>
          <p:nvPr>
            <p:ph idx="1"/>
          </p:nvPr>
        </p:nvSpPr>
        <p:spPr/>
        <p:txBody>
          <a:bodyPr>
            <a:normAutofit/>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An IoT-based Push-Up Counter using Raspberry Pi offers an innovative approach to fitness tracking by leveraging the power of the Internet of Things (IoT).</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This system utilizes sensors and Raspberry Pi to accurately count push-ups and monitor performance in real-time.</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Users receive immediate updates on their performance, allowing for prompt adjustments and improvements.</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Combining the power of IoT with fitness tracking, this device sets a new standard in the industry.</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Embrace the future of fitness tracking and take your push-up game to the next level with our innovative IoT solution.</a:t>
            </a:r>
          </a:p>
        </p:txBody>
      </p:sp>
    </p:spTree>
    <p:extLst>
      <p:ext uri="{BB962C8B-B14F-4D97-AF65-F5344CB8AC3E}">
        <p14:creationId xmlns:p14="http://schemas.microsoft.com/office/powerpoint/2010/main" val="3841653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E0578-8C97-4281-8A2A-57C8A7DF96A6}"/>
              </a:ext>
            </a:extLst>
          </p:cNvPr>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1B32C2FF-7384-4439-A63C-5AE0391EA959}"/>
              </a:ext>
            </a:extLst>
          </p:cNvPr>
          <p:cNvSpPr>
            <a:spLocks noGrp="1"/>
          </p:cNvSpPr>
          <p:nvPr>
            <p:ph idx="1"/>
          </p:nvPr>
        </p:nvSpPr>
        <p:spPr>
          <a:xfrm>
            <a:off x="457200" y="1143000"/>
            <a:ext cx="8229600" cy="4983163"/>
          </a:xfrm>
        </p:spPr>
        <p:txBody>
          <a:bodyPr>
            <a:noAutofit/>
          </a:bodyPr>
          <a:lstStyle/>
          <a:p>
            <a:pPr marL="0" indent="0" algn="just">
              <a:buNone/>
            </a:pPr>
            <a:r>
              <a:rPr lang="en-US" sz="2350" dirty="0">
                <a:latin typeface="Times New Roman" panose="02020603050405020304" pitchFamily="18" charset="0"/>
                <a:cs typeface="Times New Roman" panose="02020603050405020304" pitchFamily="18" charset="0"/>
              </a:rPr>
              <a:t>	Human pose estimation technology is increasingly popular due to the growth of Virtual and Augmented Reality applications. This project aims to develop a push-up counter using the </a:t>
            </a:r>
            <a:r>
              <a:rPr lang="en-US" sz="2350" dirty="0" err="1">
                <a:latin typeface="Times New Roman" panose="02020603050405020304" pitchFamily="18" charset="0"/>
                <a:cs typeface="Times New Roman" panose="02020603050405020304" pitchFamily="18" charset="0"/>
              </a:rPr>
              <a:t>MediaPipe</a:t>
            </a:r>
            <a:r>
              <a:rPr lang="en-US" sz="2350" dirty="0">
                <a:latin typeface="Times New Roman" panose="02020603050405020304" pitchFamily="18" charset="0"/>
                <a:cs typeface="Times New Roman" panose="02020603050405020304" pitchFamily="18" charset="0"/>
              </a:rPr>
              <a:t> Pose estimation package, which will accurately track and count push-ups by analyzing shoulder and elbow coordinates. 	</a:t>
            </a:r>
          </a:p>
          <a:p>
            <a:pPr marL="0" indent="0" algn="just">
              <a:buNone/>
            </a:pPr>
            <a:r>
              <a:rPr lang="en-US" sz="2350" dirty="0">
                <a:latin typeface="Times New Roman" panose="02020603050405020304" pitchFamily="18" charset="0"/>
                <a:cs typeface="Times New Roman" panose="02020603050405020304" pitchFamily="18" charset="0"/>
              </a:rPr>
              <a:t>	</a:t>
            </a:r>
            <a:r>
              <a:rPr lang="en-US" sz="2350" dirty="0" err="1">
                <a:latin typeface="Times New Roman" panose="02020603050405020304" pitchFamily="18" charset="0"/>
                <a:cs typeface="Times New Roman" panose="02020603050405020304" pitchFamily="18" charset="0"/>
              </a:rPr>
              <a:t>MediaPipe</a:t>
            </a:r>
            <a:r>
              <a:rPr lang="en-US" sz="2350" dirty="0">
                <a:latin typeface="Times New Roman" panose="02020603050405020304" pitchFamily="18" charset="0"/>
                <a:cs typeface="Times New Roman" panose="02020603050405020304" pitchFamily="18" charset="0"/>
              </a:rPr>
              <a:t> Pose is a powerful tool that employs machine learning to detect and track key body joints, providing precise pose estimation. In this project, the coordinates of the shoulders and elbows will be continuously monitored. A push-up is counted if the shoulders are at the same level as or below the elbows. This ensures with a full range of motion, are recorded. The project also involves connecting a speaker to a Raspberry Pi, which will announce the push-up count in real- time, offering immediate feedback to the user. </a:t>
            </a:r>
          </a:p>
        </p:txBody>
      </p:sp>
    </p:spTree>
    <p:extLst>
      <p:ext uri="{BB962C8B-B14F-4D97-AF65-F5344CB8AC3E}">
        <p14:creationId xmlns:p14="http://schemas.microsoft.com/office/powerpoint/2010/main" val="699697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A72C0-C7AD-1950-C0EF-45BEE83D26F7}"/>
              </a:ext>
            </a:extLst>
          </p:cNvPr>
          <p:cNvSpPr>
            <a:spLocks noGrp="1"/>
          </p:cNvSpPr>
          <p:nvPr>
            <p:ph type="title"/>
          </p:nvPr>
        </p:nvSpPr>
        <p:spPr>
          <a:xfrm>
            <a:off x="457200" y="304800"/>
            <a:ext cx="5105400" cy="2011362"/>
          </a:xfrm>
        </p:spPr>
        <p:txBody>
          <a:bodyPr>
            <a:normAutofit/>
          </a:bodyPr>
          <a:lstStyle/>
          <a:p>
            <a:r>
              <a:rPr lang="en-IN" b="1" i="0" dirty="0">
                <a:solidFill>
                  <a:srgbClr val="0E3D79"/>
                </a:solidFill>
                <a:effectLst/>
                <a:highlight>
                  <a:srgbClr val="FFFFFF"/>
                </a:highlight>
                <a:latin typeface="Times New Roman" panose="02020603050405020304" pitchFamily="18" charset="0"/>
                <a:cs typeface="Times New Roman" panose="02020603050405020304" pitchFamily="18" charset="0"/>
              </a:rPr>
              <a:t>What is </a:t>
            </a:r>
            <a:r>
              <a:rPr lang="en-IN" b="1" i="0" dirty="0" err="1">
                <a:solidFill>
                  <a:srgbClr val="0E3D79"/>
                </a:solidFill>
                <a:effectLst/>
                <a:highlight>
                  <a:srgbClr val="FFFFFF"/>
                </a:highlight>
                <a:latin typeface="Times New Roman" panose="02020603050405020304" pitchFamily="18" charset="0"/>
                <a:cs typeface="Times New Roman" panose="02020603050405020304" pitchFamily="18" charset="0"/>
              </a:rPr>
              <a:t>MediaPipe</a:t>
            </a:r>
            <a:r>
              <a:rPr lang="en-IN" b="1" i="0" dirty="0">
                <a:solidFill>
                  <a:srgbClr val="0E3D79"/>
                </a:solidFill>
                <a:effectLst/>
                <a:highlight>
                  <a:srgbClr val="FFFFFF"/>
                </a:highlight>
                <a:latin typeface="Times New Roman" panose="02020603050405020304" pitchFamily="18" charset="0"/>
                <a:cs typeface="Times New Roman" panose="02020603050405020304" pitchFamily="18" charset="0"/>
              </a:rPr>
              <a:t>?</a:t>
            </a:r>
            <a:br>
              <a:rPr lang="en-IN" b="0" i="0" dirty="0">
                <a:solidFill>
                  <a:srgbClr val="0E3D79"/>
                </a:solidFill>
                <a:effectLst/>
                <a:highlight>
                  <a:srgbClr val="FFFFFF"/>
                </a:highligh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DEC5719-E9D2-AF30-96CF-A2BE9A57927D}"/>
              </a:ext>
            </a:extLst>
          </p:cNvPr>
          <p:cNvSpPr>
            <a:spLocks noGrp="1"/>
          </p:cNvSpPr>
          <p:nvPr>
            <p:ph idx="1"/>
          </p:nvPr>
        </p:nvSpPr>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is a framework developed by Google for building and deploying multimodal machine learning pipelines. It is particularly used for real-time perception tasks like face detection, hand tracking, object detection, and pose estimation. 	</a:t>
            </a:r>
          </a:p>
          <a:p>
            <a:pPr marL="0" indent="0"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MediaPipe</a:t>
            </a:r>
            <a:r>
              <a:rPr lang="en-US" sz="2400" dirty="0">
                <a:latin typeface="Times New Roman" panose="02020603050405020304" pitchFamily="18" charset="0"/>
                <a:cs typeface="Times New Roman" panose="02020603050405020304" pitchFamily="18" charset="0"/>
              </a:rPr>
              <a:t> provides a collection of pre-trained models and tools that make it easier to integrate these capabilities into applications. It offers cross-platform support, making it suitable for use on mobile devices, desktops, and in web environments.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6209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D454-BF84-9239-DFAF-1D031887979B}"/>
              </a:ext>
            </a:extLst>
          </p:cNvPr>
          <p:cNvSpPr>
            <a:spLocks noGrp="1"/>
          </p:cNvSpPr>
          <p:nvPr>
            <p:ph type="title"/>
          </p:nvPr>
        </p:nvSpPr>
        <p:spPr/>
        <p:txBody>
          <a:bodyPr/>
          <a:lstStyle/>
          <a:p>
            <a:r>
              <a:rPr lang="en-US" dirty="0"/>
              <a:t>COMPONENTS </a:t>
            </a:r>
            <a:endParaRPr lang="en-IN" dirty="0"/>
          </a:p>
        </p:txBody>
      </p:sp>
      <p:sp>
        <p:nvSpPr>
          <p:cNvPr id="3" name="Content Placeholder 2">
            <a:extLst>
              <a:ext uri="{FF2B5EF4-FFF2-40B4-BE49-F238E27FC236}">
                <a16:creationId xmlns:a16="http://schemas.microsoft.com/office/drawing/2014/main" id="{C64664ED-D6B6-026D-B957-D5106AE610FF}"/>
              </a:ext>
            </a:extLst>
          </p:cNvPr>
          <p:cNvSpPr>
            <a:spLocks noGrp="1"/>
          </p:cNvSpPr>
          <p:nvPr>
            <p:ph idx="1"/>
          </p:nvPr>
        </p:nvSpPr>
        <p:spPr/>
        <p:txBody>
          <a:bodyPr/>
          <a:lstStyle/>
          <a:p>
            <a:pPr marL="514350" indent="-514350">
              <a:buFont typeface="+mj-lt"/>
              <a:buAutoNum type="arabicPeriod"/>
            </a:pPr>
            <a:r>
              <a:rPr lang="en-US" dirty="0">
                <a:latin typeface="Times New Roman" panose="02020603050405020304" pitchFamily="18" charset="0"/>
                <a:cs typeface="Times New Roman" panose="02020603050405020304" pitchFamily="18" charset="0"/>
              </a:rPr>
              <a:t>Raspberry pi3</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Pi Camera module </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Speaker</a:t>
            </a:r>
          </a:p>
          <a:p>
            <a:pPr marL="514350" indent="-514350">
              <a:buFont typeface="+mj-lt"/>
              <a:buAutoNum type="arabicPeriod"/>
            </a:pPr>
            <a:r>
              <a:rPr lang="en-IN" altLang="fr-FR" sz="3200" dirty="0">
                <a:latin typeface="Times New Roman" panose="02020603050405020304" pitchFamily="18" charset="0"/>
                <a:cs typeface="Times New Roman" panose="02020603050405020304" pitchFamily="18" charset="0"/>
              </a:rPr>
              <a:t>Power Supply 5v</a:t>
            </a:r>
            <a:endParaRPr lang="fr-FR" sz="3200"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3837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F96F-784E-CE7F-9671-3AFAAB8E19F8}"/>
              </a:ext>
            </a:extLst>
          </p:cNvPr>
          <p:cNvSpPr>
            <a:spLocks noGrp="1"/>
          </p:cNvSpPr>
          <p:nvPr>
            <p:ph type="title"/>
          </p:nvPr>
        </p:nvSpPr>
        <p:spPr>
          <a:xfrm>
            <a:off x="457200" y="274638"/>
            <a:ext cx="7772400" cy="1143000"/>
          </a:xfrm>
        </p:spPr>
        <p:txBody>
          <a:bodyPr/>
          <a:lstStyle/>
          <a:p>
            <a:r>
              <a:rPr lang="en-US" sz="4400" b="1" dirty="0">
                <a:latin typeface="Times New Roman" panose="02020603050405020304" pitchFamily="18" charset="0"/>
                <a:cs typeface="Times New Roman" panose="02020603050405020304" pitchFamily="18" charset="0"/>
              </a:rPr>
              <a:t>COMPONENT DETAILING</a:t>
            </a:r>
            <a:endParaRPr lang="en-IN" dirty="0"/>
          </a:p>
        </p:txBody>
      </p:sp>
      <p:sp>
        <p:nvSpPr>
          <p:cNvPr id="3" name="Content Placeholder 2">
            <a:extLst>
              <a:ext uri="{FF2B5EF4-FFF2-40B4-BE49-F238E27FC236}">
                <a16:creationId xmlns:a16="http://schemas.microsoft.com/office/drawing/2014/main" id="{D539E345-06A2-3D36-BC3C-EB847A16BD35}"/>
              </a:ext>
            </a:extLst>
          </p:cNvPr>
          <p:cNvSpPr>
            <a:spLocks noGrp="1"/>
          </p:cNvSpPr>
          <p:nvPr>
            <p:ph idx="1"/>
          </p:nvPr>
        </p:nvSpPr>
        <p:spPr/>
        <p:txBody>
          <a:bodyPr/>
          <a:lstStyle/>
          <a:p>
            <a:r>
              <a:rPr lang="en-US" sz="3200" b="1" dirty="0">
                <a:latin typeface="Times New Roman" panose="02020603050405020304" pitchFamily="18" charset="0"/>
                <a:cs typeface="Times New Roman" panose="02020603050405020304" pitchFamily="18" charset="0"/>
              </a:rPr>
              <a:t>Raspberry Pi 3 : </a:t>
            </a:r>
            <a:endParaRPr lang="en-IN" dirty="0"/>
          </a:p>
        </p:txBody>
      </p:sp>
      <p:pic>
        <p:nvPicPr>
          <p:cNvPr id="1028" name="Picture 4">
            <a:extLst>
              <a:ext uri="{FF2B5EF4-FFF2-40B4-BE49-F238E27FC236}">
                <a16:creationId xmlns:a16="http://schemas.microsoft.com/office/drawing/2014/main" id="{8AF505E4-BCDE-BBA6-E66B-773720AE301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587" y="2667000"/>
            <a:ext cx="3768213" cy="2971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A5691DC-74E0-077F-D3D0-7898C0E72798}"/>
              </a:ext>
            </a:extLst>
          </p:cNvPr>
          <p:cNvSpPr txBox="1"/>
          <p:nvPr/>
        </p:nvSpPr>
        <p:spPr>
          <a:xfrm>
            <a:off x="4225413" y="2000297"/>
            <a:ext cx="4571999" cy="3877985"/>
          </a:xfrm>
          <a:prstGeom prst="rect">
            <a:avLst/>
          </a:prstGeom>
          <a:noFill/>
        </p:spPr>
        <p:txBody>
          <a:bodyPr wrap="square">
            <a:spAutoFit/>
          </a:bodyPr>
          <a:lstStyle/>
          <a:p>
            <a:pPr algn="just"/>
            <a:r>
              <a:rPr lang="en-US" sz="2050" dirty="0">
                <a:latin typeface="Times New Roman" panose="02020603050405020304" pitchFamily="18" charset="0"/>
                <a:cs typeface="Times New Roman" panose="02020603050405020304" pitchFamily="18" charset="0"/>
              </a:rPr>
              <a:t>The Raspberry Pi 3 is a versatile, compact computer that brings powerful computing capabilities to a wide range of applications. Launched in February 2016, it features a 1.2 GHz 64-bit quad-core ARM Cortex-A53 CPU, which provides a significant performance boost over its predecessors. The Raspberry Pi 3 includes 1 GB of RAM and an integrated GPU, the Broadcom </a:t>
            </a:r>
            <a:r>
              <a:rPr lang="en-US" sz="2050" dirty="0" err="1">
                <a:latin typeface="Times New Roman" panose="02020603050405020304" pitchFamily="18" charset="0"/>
                <a:cs typeface="Times New Roman" panose="02020603050405020304" pitchFamily="18" charset="0"/>
              </a:rPr>
              <a:t>VideoCore</a:t>
            </a:r>
            <a:r>
              <a:rPr lang="en-US" sz="2050" dirty="0">
                <a:latin typeface="Times New Roman" panose="02020603050405020304" pitchFamily="18" charset="0"/>
                <a:cs typeface="Times New Roman" panose="02020603050405020304" pitchFamily="18" charset="0"/>
              </a:rPr>
              <a:t> IV, capable of handling HD video and complex graphics tasks.</a:t>
            </a:r>
            <a:endParaRPr lang="en-IN" sz="2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5762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F96F-784E-CE7F-9671-3AFAAB8E19F8}"/>
              </a:ext>
            </a:extLst>
          </p:cNvPr>
          <p:cNvSpPr>
            <a:spLocks noGrp="1"/>
          </p:cNvSpPr>
          <p:nvPr>
            <p:ph type="title"/>
          </p:nvPr>
        </p:nvSpPr>
        <p:spPr>
          <a:xfrm>
            <a:off x="457200" y="274638"/>
            <a:ext cx="7772400" cy="1143000"/>
          </a:xfrm>
        </p:spPr>
        <p:txBody>
          <a:bodyPr/>
          <a:lstStyle/>
          <a:p>
            <a:r>
              <a:rPr lang="en-US" sz="4400" b="1" dirty="0">
                <a:latin typeface="Times New Roman" panose="02020603050405020304" pitchFamily="18" charset="0"/>
                <a:cs typeface="Times New Roman" panose="02020603050405020304" pitchFamily="18" charset="0"/>
              </a:rPr>
              <a:t>COMPONENT DETAILING</a:t>
            </a:r>
            <a:endParaRPr lang="en-IN" dirty="0"/>
          </a:p>
        </p:txBody>
      </p:sp>
      <p:sp>
        <p:nvSpPr>
          <p:cNvPr id="3" name="Content Placeholder 2">
            <a:extLst>
              <a:ext uri="{FF2B5EF4-FFF2-40B4-BE49-F238E27FC236}">
                <a16:creationId xmlns:a16="http://schemas.microsoft.com/office/drawing/2014/main" id="{D539E345-06A2-3D36-BC3C-EB847A16BD35}"/>
              </a:ext>
            </a:extLst>
          </p:cNvPr>
          <p:cNvSpPr>
            <a:spLocks noGrp="1"/>
          </p:cNvSpPr>
          <p:nvPr>
            <p:ph idx="1"/>
          </p:nvPr>
        </p:nvSpPr>
        <p:spPr/>
        <p:txBody>
          <a:bodyPr/>
          <a:lstStyle/>
          <a:p>
            <a:r>
              <a:rPr lang="en-US" sz="3200" b="1" dirty="0">
                <a:latin typeface="Times New Roman" panose="02020603050405020304" pitchFamily="18" charset="0"/>
                <a:cs typeface="Times New Roman" panose="02020603050405020304" pitchFamily="18" charset="0"/>
              </a:rPr>
              <a:t>Pi camera module</a:t>
            </a:r>
            <a:endParaRPr lang="en-IN" dirty="0"/>
          </a:p>
        </p:txBody>
      </p:sp>
      <p:sp>
        <p:nvSpPr>
          <p:cNvPr id="6" name="TextBox 5">
            <a:extLst>
              <a:ext uri="{FF2B5EF4-FFF2-40B4-BE49-F238E27FC236}">
                <a16:creationId xmlns:a16="http://schemas.microsoft.com/office/drawing/2014/main" id="{9A5691DC-74E0-077F-D3D0-7898C0E72798}"/>
              </a:ext>
            </a:extLst>
          </p:cNvPr>
          <p:cNvSpPr txBox="1"/>
          <p:nvPr/>
        </p:nvSpPr>
        <p:spPr>
          <a:xfrm>
            <a:off x="4225413" y="2000297"/>
            <a:ext cx="4571999" cy="4401205"/>
          </a:xfrm>
          <a:prstGeom prst="rect">
            <a:avLst/>
          </a:prstGeom>
          <a:noFill/>
        </p:spPr>
        <p:txBody>
          <a:bodyPr wrap="square">
            <a:spAutoFit/>
          </a:bodyPr>
          <a:lstStyle/>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5-megapixel Pi Camera Module is a compact and high-quality camera designed specifically for use with Raspberry Pi devices. This camera module is equipped with the </a:t>
            </a:r>
            <a:r>
              <a:rPr lang="en-US" sz="2000" b="1" dirty="0" err="1">
                <a:highlight>
                  <a:srgbClr val="00FFFF"/>
                </a:highlight>
                <a:latin typeface="Times New Roman" panose="02020603050405020304" pitchFamily="18" charset="0"/>
                <a:cs typeface="Times New Roman" panose="02020603050405020304" pitchFamily="18" charset="0"/>
              </a:rPr>
              <a:t>OmniVision</a:t>
            </a:r>
            <a:r>
              <a:rPr lang="en-US" sz="2000" dirty="0">
                <a:latin typeface="Times New Roman" panose="02020603050405020304" pitchFamily="18" charset="0"/>
                <a:cs typeface="Times New Roman" panose="02020603050405020304" pitchFamily="18" charset="0"/>
              </a:rPr>
              <a:t> OV5647 sensor, capable of capturing still images at a resolution of 2592 x 1944 pixels and recording video at 1080p30, 720p60, and 640x480p90 resolutions. It connects to the Raspberry Pi via the dedicated </a:t>
            </a:r>
            <a:r>
              <a:rPr lang="en-US" sz="2000" dirty="0">
                <a:highlight>
                  <a:srgbClr val="00FFFF"/>
                </a:highlight>
                <a:latin typeface="Times New Roman" panose="02020603050405020304" pitchFamily="18" charset="0"/>
                <a:cs typeface="Times New Roman" panose="02020603050405020304" pitchFamily="18" charset="0"/>
              </a:rPr>
              <a:t>Camera Serial Interface </a:t>
            </a:r>
            <a:r>
              <a:rPr lang="en-US" sz="2000" dirty="0">
                <a:latin typeface="Times New Roman" panose="02020603050405020304" pitchFamily="18" charset="0"/>
                <a:cs typeface="Times New Roman" panose="02020603050405020304" pitchFamily="18" charset="0"/>
              </a:rPr>
              <a:t>(CSI) port using a 15cm ribbon cable, ensuring fast data transfer and minimal latency.</a:t>
            </a:r>
          </a:p>
        </p:txBody>
      </p:sp>
      <p:pic>
        <p:nvPicPr>
          <p:cNvPr id="2050" name="Picture 2" descr="RPI CAM 5MP: Raspberry Pi - Kamera, 5MP, v1.3 bei reichelt elektronik">
            <a:extLst>
              <a:ext uri="{FF2B5EF4-FFF2-40B4-BE49-F238E27FC236}">
                <a16:creationId xmlns:a16="http://schemas.microsoft.com/office/drawing/2014/main" id="{E0330C38-8347-ECC0-3027-B2F906C950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348451"/>
            <a:ext cx="2476500" cy="3777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51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F96F-784E-CE7F-9671-3AFAAB8E19F8}"/>
              </a:ext>
            </a:extLst>
          </p:cNvPr>
          <p:cNvSpPr>
            <a:spLocks noGrp="1"/>
          </p:cNvSpPr>
          <p:nvPr>
            <p:ph type="title"/>
          </p:nvPr>
        </p:nvSpPr>
        <p:spPr>
          <a:xfrm>
            <a:off x="457200" y="274638"/>
            <a:ext cx="7772400" cy="1143000"/>
          </a:xfrm>
        </p:spPr>
        <p:txBody>
          <a:bodyPr/>
          <a:lstStyle/>
          <a:p>
            <a:r>
              <a:rPr lang="en-US" sz="4400" b="1" dirty="0">
                <a:latin typeface="Times New Roman" panose="02020603050405020304" pitchFamily="18" charset="0"/>
                <a:cs typeface="Times New Roman" panose="02020603050405020304" pitchFamily="18" charset="0"/>
              </a:rPr>
              <a:t>COMPONENT DETAILING</a:t>
            </a:r>
            <a:endParaRPr lang="en-IN" dirty="0"/>
          </a:p>
        </p:txBody>
      </p:sp>
      <p:sp>
        <p:nvSpPr>
          <p:cNvPr id="3" name="Content Placeholder 2">
            <a:extLst>
              <a:ext uri="{FF2B5EF4-FFF2-40B4-BE49-F238E27FC236}">
                <a16:creationId xmlns:a16="http://schemas.microsoft.com/office/drawing/2014/main" id="{D539E345-06A2-3D36-BC3C-EB847A16BD35}"/>
              </a:ext>
            </a:extLst>
          </p:cNvPr>
          <p:cNvSpPr>
            <a:spLocks noGrp="1"/>
          </p:cNvSpPr>
          <p:nvPr>
            <p:ph idx="1"/>
          </p:nvPr>
        </p:nvSpPr>
        <p:spPr/>
        <p:txBody>
          <a:bodyPr/>
          <a:lstStyle/>
          <a:p>
            <a:r>
              <a:rPr lang="en-US" sz="3200" b="1" dirty="0">
                <a:latin typeface="Times New Roman" panose="02020603050405020304" pitchFamily="18" charset="0"/>
                <a:cs typeface="Times New Roman" panose="02020603050405020304" pitchFamily="18" charset="0"/>
              </a:rPr>
              <a:t>Speaker </a:t>
            </a:r>
            <a:endParaRPr lang="en-IN" dirty="0"/>
          </a:p>
        </p:txBody>
      </p:sp>
      <p:sp>
        <p:nvSpPr>
          <p:cNvPr id="6" name="TextBox 5">
            <a:extLst>
              <a:ext uri="{FF2B5EF4-FFF2-40B4-BE49-F238E27FC236}">
                <a16:creationId xmlns:a16="http://schemas.microsoft.com/office/drawing/2014/main" id="{9A5691DC-74E0-077F-D3D0-7898C0E72798}"/>
              </a:ext>
            </a:extLst>
          </p:cNvPr>
          <p:cNvSpPr txBox="1"/>
          <p:nvPr/>
        </p:nvSpPr>
        <p:spPr>
          <a:xfrm>
            <a:off x="4225413" y="2000297"/>
            <a:ext cx="4571999" cy="3477875"/>
          </a:xfrm>
          <a:prstGeom prst="rect">
            <a:avLst/>
          </a:prstGeom>
          <a:noFill/>
        </p:spPr>
        <p:txBody>
          <a:bodyPr wrap="square">
            <a:spAutoFit/>
          </a:bodyPr>
          <a:lstStyle/>
          <a:p>
            <a:pPr algn="just"/>
            <a:r>
              <a:rPr lang="en-US" sz="2000" dirty="0"/>
              <a:t>The Raspberry Pi Speaker is a versatile and compact audio module designed to deliver clear and powerful sound for various applications. It easily integrates with Raspberry Pi projects, providing high-quality audio output for voice and music. This speaker is ideal for creating custom audio notifications, alarms, or enhancing media playback in your projects. Its small form factor makes it perfect for embedded systems and portable devices. </a:t>
            </a:r>
            <a:endParaRPr lang="en-US" sz="2000" dirty="0">
              <a:latin typeface="Times New Roman" panose="02020603050405020304" pitchFamily="18" charset="0"/>
              <a:cs typeface="Times New Roman" panose="02020603050405020304" pitchFamily="18" charset="0"/>
            </a:endParaRPr>
          </a:p>
        </p:txBody>
      </p:sp>
      <p:pic>
        <p:nvPicPr>
          <p:cNvPr id="3074" name="Picture 2" descr="Sonos | Move Portable Smart Speaker - Black | Westan">
            <a:extLst>
              <a:ext uri="{FF2B5EF4-FFF2-40B4-BE49-F238E27FC236}">
                <a16:creationId xmlns:a16="http://schemas.microsoft.com/office/drawing/2014/main" id="{1C4A84EC-EBFC-6D7C-5846-FC99B0F270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336" y="2590799"/>
            <a:ext cx="3390900" cy="3717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3583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F96F-784E-CE7F-9671-3AFAAB8E19F8}"/>
              </a:ext>
            </a:extLst>
          </p:cNvPr>
          <p:cNvSpPr>
            <a:spLocks noGrp="1"/>
          </p:cNvSpPr>
          <p:nvPr>
            <p:ph type="title"/>
          </p:nvPr>
        </p:nvSpPr>
        <p:spPr>
          <a:xfrm>
            <a:off x="457200" y="274638"/>
            <a:ext cx="7772400" cy="1143000"/>
          </a:xfrm>
        </p:spPr>
        <p:txBody>
          <a:bodyPr/>
          <a:lstStyle/>
          <a:p>
            <a:r>
              <a:rPr lang="en-US" sz="4400" b="1" dirty="0">
                <a:latin typeface="Times New Roman" panose="02020603050405020304" pitchFamily="18" charset="0"/>
                <a:cs typeface="Times New Roman" panose="02020603050405020304" pitchFamily="18" charset="0"/>
              </a:rPr>
              <a:t>COMPONENT DETAILING</a:t>
            </a:r>
            <a:endParaRPr lang="en-IN" dirty="0"/>
          </a:p>
        </p:txBody>
      </p:sp>
      <p:sp>
        <p:nvSpPr>
          <p:cNvPr id="3" name="Content Placeholder 2">
            <a:extLst>
              <a:ext uri="{FF2B5EF4-FFF2-40B4-BE49-F238E27FC236}">
                <a16:creationId xmlns:a16="http://schemas.microsoft.com/office/drawing/2014/main" id="{D539E345-06A2-3D36-BC3C-EB847A16BD35}"/>
              </a:ext>
            </a:extLst>
          </p:cNvPr>
          <p:cNvSpPr>
            <a:spLocks noGrp="1"/>
          </p:cNvSpPr>
          <p:nvPr>
            <p:ph idx="1"/>
          </p:nvPr>
        </p:nvSpPr>
        <p:spPr/>
        <p:txBody>
          <a:bodyPr/>
          <a:lstStyle/>
          <a:p>
            <a:r>
              <a:rPr lang="en-US" sz="3200" b="1" dirty="0">
                <a:latin typeface="Times New Roman" panose="02020603050405020304" pitchFamily="18" charset="0"/>
                <a:cs typeface="Times New Roman" panose="02020603050405020304" pitchFamily="18" charset="0"/>
              </a:rPr>
              <a:t>Power supply  </a:t>
            </a:r>
            <a:endParaRPr lang="en-IN" dirty="0"/>
          </a:p>
        </p:txBody>
      </p:sp>
      <p:pic>
        <p:nvPicPr>
          <p:cNvPr id="4" name="Picture 3" descr="StarTech.com 5V DC Power Supply - 10W ...">
            <a:extLst>
              <a:ext uri="{FF2B5EF4-FFF2-40B4-BE49-F238E27FC236}">
                <a16:creationId xmlns:a16="http://schemas.microsoft.com/office/drawing/2014/main" id="{93BB2D83-2831-C7E4-FADB-565F019CF4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7155" y="1417638"/>
            <a:ext cx="3026645" cy="275272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3C0A1661-101E-B161-9B3E-6ABB059B7BC4}"/>
              </a:ext>
            </a:extLst>
          </p:cNvPr>
          <p:cNvSpPr txBox="1"/>
          <p:nvPr/>
        </p:nvSpPr>
        <p:spPr>
          <a:xfrm>
            <a:off x="452284" y="4352925"/>
            <a:ext cx="8610600" cy="1200329"/>
          </a:xfrm>
          <a:prstGeom prst="rect">
            <a:avLst/>
          </a:prstGeom>
          <a:noFill/>
        </p:spPr>
        <p:txBody>
          <a:bodyPr wrap="square">
            <a:spAutoFit/>
          </a:bodyPr>
          <a:lstStyle/>
          <a:p>
            <a:r>
              <a:rPr lang="en-US" sz="1800" b="1" dirty="0">
                <a:solidFill>
                  <a:srgbClr val="222222"/>
                </a:solidFill>
                <a:highlight>
                  <a:srgbClr val="FFFFFF"/>
                </a:highlight>
                <a:latin typeface="Times New Roman" panose="02020603050405020304" pitchFamily="18" charset="0"/>
                <a:cs typeface="Times New Roman" panose="02020603050405020304" pitchFamily="18" charset="0"/>
              </a:rPr>
              <a:t>Power Supply(5V): </a:t>
            </a:r>
            <a:r>
              <a:rPr lang="en-US" sz="1800" b="0" i="0" dirty="0">
                <a:solidFill>
                  <a:srgbClr val="1F1F1F"/>
                </a:solidFill>
                <a:effectLst/>
                <a:highlight>
                  <a:srgbClr val="FFFFFF"/>
                </a:highlight>
                <a:latin typeface="Times New Roman" panose="02020603050405020304" pitchFamily="18" charset="0"/>
                <a:cs typeface="Times New Roman" panose="02020603050405020304" pitchFamily="18" charset="0"/>
              </a:rPr>
              <a:t>A programmable DC power supply is used by engineers </a:t>
            </a:r>
            <a:r>
              <a:rPr lang="en-US" sz="1800" b="0" i="0" dirty="0">
                <a:solidFill>
                  <a:srgbClr val="040C28"/>
                </a:solidFill>
                <a:effectLst/>
                <a:latin typeface="Times New Roman" panose="02020603050405020304" pitchFamily="18" charset="0"/>
                <a:cs typeface="Times New Roman" panose="02020603050405020304" pitchFamily="18" charset="0"/>
              </a:rPr>
              <a:t>to test a component, circuit or electronic device, such as IoT devices, medical products, mobile phones, and remote industrial sensors</a:t>
            </a:r>
            <a:r>
              <a:rPr lang="en-US" sz="1800" b="0" i="0" dirty="0">
                <a:solidFill>
                  <a:srgbClr val="1F1F1F"/>
                </a:solidFill>
                <a:effectLst/>
                <a:highlight>
                  <a:srgbClr val="FFFFFF"/>
                </a:highlight>
                <a:latin typeface="Times New Roman" panose="02020603050405020304" pitchFamily="18" charset="0"/>
                <a:cs typeface="Times New Roman" panose="02020603050405020304" pitchFamily="18" charset="0"/>
              </a:rPr>
              <a:t>. The DC power supply allows engineers to set and supply specific voltages to power the device to confirm it's working as intended</a:t>
            </a:r>
            <a:r>
              <a:rPr lang="en-US" sz="1100" b="0" i="0" dirty="0">
                <a:solidFill>
                  <a:srgbClr val="1F1F1F"/>
                </a:solidFill>
                <a:effectLst/>
                <a:highlight>
                  <a:srgbClr val="FFFFFF"/>
                </a:highlight>
                <a:latin typeface="Google Sans"/>
              </a:rPr>
              <a:t>.</a:t>
            </a:r>
            <a:endParaRPr lang="en-IN" sz="18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8311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EC18F-1CF7-C5B0-D24B-75EB226DA32C}"/>
              </a:ext>
            </a:extLst>
          </p:cNvPr>
          <p:cNvSpPr>
            <a:spLocks noGrp="1"/>
          </p:cNvSpPr>
          <p:nvPr>
            <p:ph type="title"/>
          </p:nvPr>
        </p:nvSpPr>
        <p:spPr/>
        <p:txBody>
          <a:bodyPr/>
          <a:lstStyle/>
          <a:p>
            <a:r>
              <a:rPr lang="en-US" dirty="0"/>
              <a:t>BLOCK DIAGRAM </a:t>
            </a:r>
            <a:endParaRPr lang="en-IN" dirty="0"/>
          </a:p>
        </p:txBody>
      </p:sp>
      <p:pic>
        <p:nvPicPr>
          <p:cNvPr id="5" name="Content Placeholder 4">
            <a:extLst>
              <a:ext uri="{FF2B5EF4-FFF2-40B4-BE49-F238E27FC236}">
                <a16:creationId xmlns:a16="http://schemas.microsoft.com/office/drawing/2014/main" id="{CFF8D0A5-CE3E-C4EA-5944-31A387E91F1E}"/>
              </a:ext>
            </a:extLst>
          </p:cNvPr>
          <p:cNvPicPr>
            <a:picLocks noGrp="1" noChangeAspect="1"/>
          </p:cNvPicPr>
          <p:nvPr>
            <p:ph idx="1"/>
          </p:nvPr>
        </p:nvPicPr>
        <p:blipFill>
          <a:blip r:embed="rId3"/>
          <a:stretch>
            <a:fillRect/>
          </a:stretch>
        </p:blipFill>
        <p:spPr>
          <a:xfrm>
            <a:off x="5410200" y="1945557"/>
            <a:ext cx="3581400" cy="3916362"/>
          </a:xfrm>
        </p:spPr>
      </p:pic>
      <p:pic>
        <p:nvPicPr>
          <p:cNvPr id="4" name="Picture 3">
            <a:extLst>
              <a:ext uri="{FF2B5EF4-FFF2-40B4-BE49-F238E27FC236}">
                <a16:creationId xmlns:a16="http://schemas.microsoft.com/office/drawing/2014/main" id="{D347FC46-9CA8-DA71-9931-BC4E3C7004C9}"/>
              </a:ext>
            </a:extLst>
          </p:cNvPr>
          <p:cNvPicPr>
            <a:picLocks noChangeAspect="1"/>
          </p:cNvPicPr>
          <p:nvPr/>
        </p:nvPicPr>
        <p:blipFill>
          <a:blip r:embed="rId4"/>
          <a:stretch>
            <a:fillRect/>
          </a:stretch>
        </p:blipFill>
        <p:spPr>
          <a:xfrm>
            <a:off x="442452" y="1676399"/>
            <a:ext cx="5434883" cy="4454679"/>
          </a:xfrm>
          <a:prstGeom prst="rect">
            <a:avLst/>
          </a:prstGeom>
        </p:spPr>
      </p:pic>
    </p:spTree>
    <p:extLst>
      <p:ext uri="{BB962C8B-B14F-4D97-AF65-F5344CB8AC3E}">
        <p14:creationId xmlns:p14="http://schemas.microsoft.com/office/powerpoint/2010/main" val="672384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D42CF91-4B99-42FC-3D56-06C401298A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1" y="228600"/>
            <a:ext cx="3581400" cy="6400800"/>
          </a:xfrm>
          <a:prstGeom prst="rect">
            <a:avLst/>
          </a:prstGeom>
        </p:spPr>
      </p:pic>
      <p:sp>
        <p:nvSpPr>
          <p:cNvPr id="14" name="Title 13">
            <a:extLst>
              <a:ext uri="{FF2B5EF4-FFF2-40B4-BE49-F238E27FC236}">
                <a16:creationId xmlns:a16="http://schemas.microsoft.com/office/drawing/2014/main" id="{77CFA833-60A9-49A0-96D0-30EF769C2D7C}"/>
              </a:ext>
            </a:extLst>
          </p:cNvPr>
          <p:cNvSpPr>
            <a:spLocks noGrp="1"/>
          </p:cNvSpPr>
          <p:nvPr>
            <p:ph type="ctrTitle"/>
          </p:nvPr>
        </p:nvSpPr>
        <p:spPr>
          <a:xfrm>
            <a:off x="-34413" y="-2285999"/>
            <a:ext cx="3276600" cy="5486400"/>
          </a:xfrm>
        </p:spPr>
        <p:txBody>
          <a:bodyPr/>
          <a:lstStyle/>
          <a:p>
            <a:r>
              <a:rPr lang="en-US" b="1" dirty="0"/>
              <a:t>FLOW CHART</a:t>
            </a:r>
            <a:endParaRPr lang="en-IN" b="1" dirty="0"/>
          </a:p>
        </p:txBody>
      </p:sp>
    </p:spTree>
    <p:extLst>
      <p:ext uri="{BB962C8B-B14F-4D97-AF65-F5344CB8AC3E}">
        <p14:creationId xmlns:p14="http://schemas.microsoft.com/office/powerpoint/2010/main" val="33565841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543800" cy="1143000"/>
          </a:xfrm>
        </p:spPr>
        <p:txBody>
          <a:bodyPr/>
          <a:lstStyle/>
          <a:p>
            <a:r>
              <a:rPr lang="en-US" dirty="0"/>
              <a:t>PROPOSED MODEL</a:t>
            </a:r>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marL="0" indent="0">
              <a:buNone/>
            </a:pPr>
            <a:r>
              <a:rPr lang="en-US" b="1" dirty="0">
                <a:solidFill>
                  <a:srgbClr val="FF0000"/>
                </a:solidFill>
              </a:rPr>
              <a:t>OPERATION:</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Setup</a:t>
            </a:r>
            <a:r>
              <a:rPr lang="en-US" sz="28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Giving connections to the Raspberry Pi.</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Collection</a:t>
            </a:r>
            <a:r>
              <a:rPr lang="en-US" sz="28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Sending data to the Raspberry Pi.</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Processing</a:t>
            </a:r>
            <a:r>
              <a:rPr lang="en-US" sz="28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Processes the data to accurately count the number of push-ups</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Transmission</a:t>
            </a:r>
            <a:r>
              <a:rPr lang="en-US" sz="2800" dirty="0">
                <a:solidFill>
                  <a:schemeClr val="accent6">
                    <a:lumMod val="75000"/>
                  </a:schemeClr>
                </a:solidFill>
                <a:latin typeface="Times New Roman" panose="02020603050405020304" pitchFamily="18" charset="0"/>
                <a:cs typeface="Times New Roman" panose="02020603050405020304" pitchFamily="18" charset="0"/>
              </a:rPr>
              <a:t>:</a:t>
            </a:r>
            <a:r>
              <a:rPr lang="en-US" sz="2800" i="1"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processed data is sent to a connected web or mobile app</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Display </a:t>
            </a:r>
            <a:r>
              <a:rPr lang="en-US" sz="2800" dirty="0">
                <a:solidFill>
                  <a:schemeClr val="accent6">
                    <a:lumMod val="75000"/>
                  </a:schemeClr>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The app displays real-time push-up counts</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Feedback: </a:t>
            </a:r>
            <a:r>
              <a:rPr lang="en-US" sz="2800" dirty="0">
                <a:latin typeface="Times New Roman" panose="02020603050405020304" pitchFamily="18" charset="0"/>
                <a:cs typeface="Times New Roman" panose="02020603050405020304" pitchFamily="18" charset="0"/>
              </a:rPr>
              <a:t>Users receive feedback, set goals, and can track their progress over time</a:t>
            </a:r>
            <a:r>
              <a:rPr lang="en-US" sz="2800" i="1" dirty="0">
                <a:latin typeface="Times New Roman" panose="02020603050405020304" pitchFamily="18" charset="0"/>
                <a:cs typeface="Times New Roman" panose="02020603050405020304" pitchFamily="18" charset="0"/>
              </a:rPr>
              <a:t>.</a:t>
            </a:r>
          </a:p>
          <a:p>
            <a:pPr marL="514350" indent="-514350" algn="just">
              <a:buFont typeface="+mj-lt"/>
              <a:buAutoNum type="arabicPeriod"/>
            </a:pPr>
            <a:r>
              <a:rPr lang="en-US" sz="2800" i="1" dirty="0">
                <a:solidFill>
                  <a:schemeClr val="accent6">
                    <a:lumMod val="75000"/>
                  </a:schemeClr>
                </a:solidFill>
                <a:latin typeface="Times New Roman" panose="02020603050405020304" pitchFamily="18" charset="0"/>
                <a:cs typeface="Times New Roman" panose="02020603050405020304" pitchFamily="18" charset="0"/>
              </a:rPr>
              <a:t>Maintenance: </a:t>
            </a:r>
            <a:r>
              <a:rPr lang="en-US" sz="2800" dirty="0">
                <a:latin typeface="Times New Roman" panose="02020603050405020304" pitchFamily="18" charset="0"/>
                <a:cs typeface="Times New Roman" panose="02020603050405020304" pitchFamily="18" charset="0"/>
              </a:rPr>
              <a:t>Regularly check and update the system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E44F6-8398-4873-A281-72F2A0ED8645}"/>
              </a:ext>
            </a:extLst>
          </p:cNvPr>
          <p:cNvSpPr>
            <a:spLocks noGrp="1"/>
          </p:cNvSpPr>
          <p:nvPr>
            <p:ph type="title"/>
          </p:nvPr>
        </p:nvSpPr>
        <p:spPr/>
        <p:txBody>
          <a:bodyPr/>
          <a:lstStyle/>
          <a:p>
            <a:r>
              <a:rPr lang="en-US" dirty="0"/>
              <a:t>PROPOSED MODEL</a:t>
            </a:r>
          </a:p>
        </p:txBody>
      </p:sp>
      <p:sp>
        <p:nvSpPr>
          <p:cNvPr id="3" name="Content Placeholder 2">
            <a:extLst>
              <a:ext uri="{FF2B5EF4-FFF2-40B4-BE49-F238E27FC236}">
                <a16:creationId xmlns:a16="http://schemas.microsoft.com/office/drawing/2014/main" id="{58FD5B6B-C2DD-4655-A21E-3501FD8E6292}"/>
              </a:ext>
            </a:extLst>
          </p:cNvPr>
          <p:cNvSpPr>
            <a:spLocks noGrp="1"/>
          </p:cNvSpPr>
          <p:nvPr>
            <p:ph idx="1"/>
          </p:nvPr>
        </p:nvSpPr>
        <p:spPr>
          <a:xfrm>
            <a:off x="457200" y="1417638"/>
            <a:ext cx="8229600" cy="4708525"/>
          </a:xfrm>
        </p:spPr>
        <p:txBody>
          <a:bodyPr>
            <a:normAutofit/>
          </a:bodyPr>
          <a:lstStyle/>
          <a:p>
            <a:pPr marL="0" indent="0">
              <a:buNone/>
            </a:pPr>
            <a:r>
              <a:rPr lang="en-US" sz="2400" b="1" dirty="0">
                <a:solidFill>
                  <a:srgbClr val="FF0000"/>
                </a:solidFill>
                <a:latin typeface="Times New Roman" panose="02020603050405020304" pitchFamily="18" charset="0"/>
                <a:cs typeface="Times New Roman" panose="02020603050405020304" pitchFamily="18" charset="0"/>
              </a:rPr>
              <a:t>ADVANTAGES:</a:t>
            </a:r>
          </a:p>
          <a:p>
            <a:r>
              <a:rPr lang="en-US" sz="2400" b="1" dirty="0">
                <a:latin typeface="Times New Roman" panose="02020603050405020304" pitchFamily="18" charset="0"/>
                <a:cs typeface="Times New Roman" panose="02020603050405020304" pitchFamily="18" charset="0"/>
              </a:rPr>
              <a:t>Real-Time Tracking</a:t>
            </a:r>
            <a:r>
              <a:rPr lang="en-US" sz="2400" dirty="0">
                <a:latin typeface="Times New Roman" panose="02020603050405020304" pitchFamily="18" charset="0"/>
                <a:cs typeface="Times New Roman" panose="02020603050405020304" pitchFamily="18" charset="0"/>
              </a:rPr>
              <a:t>: Provides instant feedback on push-up counts and performance.</a:t>
            </a:r>
          </a:p>
          <a:p>
            <a:r>
              <a:rPr lang="en-US" sz="2400" b="1" dirty="0">
                <a:latin typeface="Times New Roman" panose="02020603050405020304" pitchFamily="18" charset="0"/>
                <a:cs typeface="Times New Roman" panose="02020603050405020304" pitchFamily="18" charset="0"/>
              </a:rPr>
              <a:t>Connectivity</a:t>
            </a:r>
            <a:r>
              <a:rPr lang="en-US" sz="2400" dirty="0">
                <a:latin typeface="Times New Roman" panose="02020603050405020304" pitchFamily="18" charset="0"/>
                <a:cs typeface="Times New Roman" panose="02020603050405020304" pitchFamily="18" charset="0"/>
              </a:rPr>
              <a:t>: Syncs with web or mobile apps for easy access to performance insights.</a:t>
            </a:r>
          </a:p>
          <a:p>
            <a:r>
              <a:rPr lang="en-US" sz="2400" b="1" dirty="0">
                <a:latin typeface="Times New Roman" panose="02020603050405020304" pitchFamily="18" charset="0"/>
                <a:cs typeface="Times New Roman" panose="02020603050405020304" pitchFamily="18" charset="0"/>
              </a:rPr>
              <a:t>Motivation</a:t>
            </a:r>
            <a:r>
              <a:rPr lang="en-US" sz="2400" dirty="0">
                <a:latin typeface="Times New Roman" panose="02020603050405020304" pitchFamily="18" charset="0"/>
                <a:cs typeface="Times New Roman" panose="02020603050405020304" pitchFamily="18" charset="0"/>
              </a:rPr>
              <a:t>: Offers features like goal-setting and progress sharing to boost motivation.</a:t>
            </a:r>
          </a:p>
          <a:p>
            <a:r>
              <a:rPr lang="en-IN" sz="2400" b="1" dirty="0">
                <a:latin typeface="Times New Roman" panose="02020603050405020304" pitchFamily="18" charset="0"/>
                <a:cs typeface="Times New Roman" panose="02020603050405020304" pitchFamily="18" charset="0"/>
              </a:rPr>
              <a:t>Customizability:</a:t>
            </a:r>
            <a:r>
              <a:rPr lang="en-US" sz="1400" dirty="0"/>
              <a:t> </a:t>
            </a:r>
            <a:r>
              <a:rPr lang="en-US" sz="2400" dirty="0">
                <a:latin typeface="Times New Roman" panose="02020603050405020304" pitchFamily="18" charset="0"/>
                <a:cs typeface="Times New Roman" panose="02020603050405020304" pitchFamily="18" charset="0"/>
              </a:rPr>
              <a:t>you can adjust the sensitivity of the sensors, set different goals, or create specific workout plans.</a:t>
            </a: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3894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543800" cy="1143000"/>
          </a:xfrm>
        </p:spPr>
        <p:txBody>
          <a:bodyPr/>
          <a:lstStyle/>
          <a:p>
            <a:r>
              <a:rPr lang="en-US" dirty="0"/>
              <a:t>PROPOSED MODEL</a:t>
            </a:r>
          </a:p>
        </p:txBody>
      </p:sp>
      <p:sp>
        <p:nvSpPr>
          <p:cNvPr id="3" name="Content Placeholder 2"/>
          <p:cNvSpPr>
            <a:spLocks noGrp="1"/>
          </p:cNvSpPr>
          <p:nvPr>
            <p:ph idx="1"/>
          </p:nvPr>
        </p:nvSpPr>
        <p:spPr>
          <a:xfrm>
            <a:off x="481818" y="1600200"/>
            <a:ext cx="8229600" cy="4525963"/>
          </a:xfrm>
        </p:spPr>
        <p:txBody>
          <a:bodyPr>
            <a:normAutofit/>
          </a:bodyPr>
          <a:lstStyle/>
          <a:p>
            <a:pPr marL="0" indent="0">
              <a:buNone/>
            </a:pPr>
            <a:r>
              <a:rPr lang="en-US" sz="2400" b="1" dirty="0">
                <a:solidFill>
                  <a:srgbClr val="FF0000"/>
                </a:solidFill>
                <a:latin typeface="Times New Roman" panose="02020603050405020304" pitchFamily="18" charset="0"/>
                <a:cs typeface="Times New Roman" panose="02020603050405020304" pitchFamily="18" charset="0"/>
              </a:rPr>
              <a:t>DISADVANTAGES :</a:t>
            </a:r>
          </a:p>
          <a:p>
            <a:r>
              <a:rPr lang="en-US" sz="2400" b="1" dirty="0">
                <a:latin typeface="Times New Roman" panose="02020603050405020304" pitchFamily="18" charset="0"/>
                <a:cs typeface="Times New Roman" panose="02020603050405020304" pitchFamily="18" charset="0"/>
              </a:rPr>
              <a:t>Dependency on Technology: </a:t>
            </a:r>
            <a:r>
              <a:rPr lang="en-US" sz="2400" dirty="0">
                <a:latin typeface="Times New Roman" panose="02020603050405020304" pitchFamily="18" charset="0"/>
                <a:cs typeface="Times New Roman" panose="02020603050405020304" pitchFamily="18" charset="0"/>
              </a:rPr>
              <a:t>Relies on the functionality of electronic components and software.</a:t>
            </a:r>
          </a:p>
          <a:p>
            <a:r>
              <a:rPr lang="en-US" sz="2400" b="1" dirty="0">
                <a:latin typeface="Times New Roman" panose="02020603050405020304" pitchFamily="18" charset="0"/>
                <a:cs typeface="Times New Roman" panose="02020603050405020304" pitchFamily="18" charset="0"/>
              </a:rPr>
              <a:t>Maintenance:</a:t>
            </a:r>
            <a:r>
              <a:rPr lang="en-US" sz="2400" dirty="0">
                <a:latin typeface="Times New Roman" panose="02020603050405020304" pitchFamily="18" charset="0"/>
                <a:cs typeface="Times New Roman" panose="02020603050405020304" pitchFamily="18" charset="0"/>
              </a:rPr>
              <a:t> Regular updates and maintenance of software and hardware might be necessary.</a:t>
            </a:r>
          </a:p>
          <a:p>
            <a:r>
              <a:rPr lang="en-US" sz="2400" b="1" dirty="0">
                <a:latin typeface="Times New Roman" panose="02020603050405020304" pitchFamily="18" charset="0"/>
                <a:cs typeface="Times New Roman" panose="02020603050405020304" pitchFamily="18" charset="0"/>
              </a:rPr>
              <a:t>Setup Complexity: </a:t>
            </a:r>
            <a:r>
              <a:rPr lang="en-US" sz="2400" dirty="0">
                <a:latin typeface="Times New Roman" panose="02020603050405020304" pitchFamily="18" charset="0"/>
                <a:cs typeface="Times New Roman" panose="02020603050405020304" pitchFamily="18" charset="0"/>
              </a:rPr>
              <a:t>Requires careful installation and configuration of sensors and Raspberry Pi.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824A8-1945-4B53-9597-BCAC5D27D94B}"/>
              </a:ext>
            </a:extLst>
          </p:cNvPr>
          <p:cNvSpPr>
            <a:spLocks noGrp="1"/>
          </p:cNvSpPr>
          <p:nvPr>
            <p:ph type="title"/>
          </p:nvPr>
        </p:nvSpPr>
        <p:spPr/>
        <p:txBody>
          <a:bodyPr>
            <a:normAutofit/>
          </a:bodyPr>
          <a:lstStyle/>
          <a:p>
            <a:pPr algn="l"/>
            <a:r>
              <a:rPr lang="en-US" sz="4000"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E5564016-A0CD-4A68-81C1-C7C7F3110CC9}"/>
              </a:ext>
            </a:extLst>
          </p:cNvPr>
          <p:cNvSpPr>
            <a:spLocks noGrp="1"/>
          </p:cNvSpPr>
          <p:nvPr>
            <p:ph idx="1"/>
          </p:nvPr>
        </p:nvSpPr>
        <p:spPr>
          <a:xfrm>
            <a:off x="152400" y="1676400"/>
            <a:ext cx="8991600" cy="6705600"/>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The IoT-based push-up counter leveraging Raspberry Pi demonstrates a successful integration of hardware and software to enhance fitness tracking. By utilizing sensors and the Raspberry Pi, the system accurately counts push-ups in real-time, offering users valuable feedback on their workout performance. The project's implementation showcases the potential of IoT technology in personal fitness applications.</a:t>
            </a:r>
          </a:p>
        </p:txBody>
      </p:sp>
    </p:spTree>
    <p:extLst>
      <p:ext uri="{BB962C8B-B14F-4D97-AF65-F5344CB8AC3E}">
        <p14:creationId xmlns:p14="http://schemas.microsoft.com/office/powerpoint/2010/main" val="982596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FE7FE3-F964-8539-4995-0309E83AB3A0}"/>
              </a:ext>
            </a:extLst>
          </p:cNvPr>
          <p:cNvSpPr>
            <a:spLocks noGrp="1"/>
          </p:cNvSpPr>
          <p:nvPr>
            <p:ph idx="1"/>
          </p:nvPr>
        </p:nvSpPr>
        <p:spPr>
          <a:xfrm>
            <a:off x="457200" y="914400"/>
            <a:ext cx="8229600" cy="5211763"/>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REFERENCES</a:t>
            </a:r>
          </a:p>
          <a:p>
            <a:pPr algn="just"/>
            <a:r>
              <a:rPr lang="en-US" sz="2800" u="sng" dirty="0">
                <a:solidFill>
                  <a:srgbClr val="0000CC"/>
                </a:solidFill>
                <a:latin typeface="Times New Roman" panose="02020603050405020304" pitchFamily="18" charset="0"/>
                <a:cs typeface="Times New Roman" panose="02020603050405020304" pitchFamily="18" charset="0"/>
              </a:rPr>
              <a:t>A. </a:t>
            </a:r>
            <a:r>
              <a:rPr lang="en-US" sz="2800" u="sng" dirty="0" err="1">
                <a:solidFill>
                  <a:srgbClr val="0000CC"/>
                </a:solidFill>
                <a:latin typeface="Times New Roman" panose="02020603050405020304" pitchFamily="18" charset="0"/>
                <a:cs typeface="Times New Roman" panose="02020603050405020304" pitchFamily="18" charset="0"/>
              </a:rPr>
              <a:t>Muzakir</a:t>
            </a:r>
            <a:r>
              <a:rPr lang="en-US" sz="2800" u="sng" dirty="0">
                <a:solidFill>
                  <a:srgbClr val="0000CC"/>
                </a:solidFill>
                <a:latin typeface="Times New Roman" panose="02020603050405020304" pitchFamily="18" charset="0"/>
                <a:cs typeface="Times New Roman" panose="02020603050405020304" pitchFamily="18" charset="0"/>
              </a:rPr>
              <a:t> and C. D. </a:t>
            </a:r>
            <a:r>
              <a:rPr lang="en-US" sz="2800" u="sng" dirty="0" err="1">
                <a:solidFill>
                  <a:srgbClr val="0000CC"/>
                </a:solidFill>
                <a:latin typeface="Times New Roman" panose="02020603050405020304" pitchFamily="18" charset="0"/>
                <a:cs typeface="Times New Roman" panose="02020603050405020304" pitchFamily="18" charset="0"/>
              </a:rPr>
              <a:t>Kusmindari</a:t>
            </a:r>
            <a:r>
              <a:rPr lang="en-US" sz="2800" u="sng" dirty="0">
                <a:solidFill>
                  <a:srgbClr val="0000CC"/>
                </a:solidFill>
                <a:latin typeface="Times New Roman" panose="02020603050405020304" pitchFamily="18" charset="0"/>
                <a:cs typeface="Times New Roman" panose="02020603050405020304" pitchFamily="18" charset="0"/>
              </a:rPr>
              <a:t>, "Push-Up Detector Applications Using Quality Function Development and Anthropometry for Movement Error Detection", Scientific Journal of Informatics, vol. 5, pp. 248-257, 2018.</a:t>
            </a:r>
          </a:p>
          <a:p>
            <a:r>
              <a:rPr lang="en-IN" sz="2800" u="sng" dirty="0">
                <a:latin typeface="Times New Roman" panose="02020603050405020304" pitchFamily="18" charset="0"/>
                <a:cs typeface="Times New Roman" panose="02020603050405020304" pitchFamily="18" charset="0"/>
                <a:hlinkClick r:id="rId2"/>
              </a:rPr>
              <a:t>https://www.youtube.com/watch?v=RLQWon4Zmao</a:t>
            </a:r>
            <a:endParaRPr lang="en-IN" sz="2800" u="sng" dirty="0">
              <a:latin typeface="Times New Roman" panose="02020603050405020304" pitchFamily="18" charset="0"/>
              <a:cs typeface="Times New Roman" panose="02020603050405020304" pitchFamily="18" charset="0"/>
            </a:endParaRPr>
          </a:p>
          <a:p>
            <a:r>
              <a:rPr lang="en-IN" sz="2800" u="sng" dirty="0">
                <a:latin typeface="Times New Roman" panose="02020603050405020304" pitchFamily="18" charset="0"/>
                <a:cs typeface="Times New Roman" panose="02020603050405020304" pitchFamily="18" charset="0"/>
                <a:hlinkClick r:id="rId3"/>
              </a:rPr>
              <a:t>https://www.ijset.in/wp-content/uploads/IJSET_V12_issue1_535.pdf</a:t>
            </a:r>
            <a:endParaRPr lang="en-IN" sz="2800" u="sng" dirty="0">
              <a:latin typeface="Times New Roman" panose="02020603050405020304" pitchFamily="18" charset="0"/>
              <a:cs typeface="Times New Roman" panose="02020603050405020304" pitchFamily="18" charset="0"/>
            </a:endParaRPr>
          </a:p>
          <a:p>
            <a:r>
              <a:rPr lang="en-IN" sz="2800" u="sng" dirty="0">
                <a:latin typeface="Times New Roman" panose="02020603050405020304" pitchFamily="18" charset="0"/>
                <a:cs typeface="Times New Roman" panose="02020603050405020304" pitchFamily="18" charset="0"/>
                <a:hlinkClick r:id="rId4"/>
              </a:rPr>
              <a:t>https://aryanvij02.medium.com/push-ups-with-python-mediapipe-open-a544bd9b4351</a:t>
            </a:r>
            <a:endParaRPr lang="en-IN" sz="2800" u="sng" dirty="0">
              <a:latin typeface="Times New Roman" panose="02020603050405020304" pitchFamily="18" charset="0"/>
              <a:cs typeface="Times New Roman" panose="02020603050405020304" pitchFamily="18" charset="0"/>
            </a:endParaRPr>
          </a:p>
          <a:p>
            <a:endParaRPr lang="en-IN" sz="2800"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7237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t>                     </a:t>
            </a:r>
          </a:p>
          <a:p>
            <a:pPr>
              <a:buNone/>
            </a:pPr>
            <a:endParaRPr lang="en-US" dirty="0"/>
          </a:p>
          <a:p>
            <a:pPr>
              <a:buNone/>
            </a:pPr>
            <a:r>
              <a:rPr lang="en-US"/>
              <a:t>                          </a:t>
            </a:r>
            <a:r>
              <a:rPr lang="en-IN" sz="4800" b="1">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Algerian" pitchFamily="82" charset="0"/>
              </a:rPr>
              <a:t>THANK  </a:t>
            </a:r>
            <a:r>
              <a:rPr lang="en-IN" sz="4800" b="1" dirty="0">
                <a:ln w="900" cmpd="sng">
                  <a:solidFill>
                    <a:schemeClr val="accent1">
                      <a:satMod val="190000"/>
                      <a:alpha val="55000"/>
                    </a:schemeClr>
                  </a:solidFill>
                  <a:prstDash val="solid"/>
                </a:ln>
                <a:solidFill>
                  <a:srgbClr val="FF0000"/>
                </a:solidFill>
                <a:effectLst>
                  <a:innerShdw blurRad="101600" dist="76200" dir="5400000">
                    <a:schemeClr val="accent1">
                      <a:satMod val="190000"/>
                      <a:tint val="100000"/>
                      <a:alpha val="74000"/>
                    </a:schemeClr>
                  </a:innerShdw>
                </a:effectLst>
                <a:latin typeface="Algerian" pitchFamily="82" charset="0"/>
              </a:rPr>
              <a:t>YOU</a:t>
            </a:r>
            <a:endParaRPr lang="en-IN" sz="4800" dirty="0">
              <a:solidFill>
                <a:srgbClr val="FF0000"/>
              </a:solidFill>
              <a:latin typeface="Algerian" pitchFamily="82" charset="0"/>
            </a:endParaRPr>
          </a:p>
          <a:p>
            <a:pPr>
              <a:buNone/>
            </a:pP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546</TotalTime>
  <Words>1090</Words>
  <Application>Microsoft Office PowerPoint</Application>
  <PresentationFormat>On-screen Show (4:3)</PresentationFormat>
  <Paragraphs>90</Paragraphs>
  <Slides>18</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Algerian</vt:lpstr>
      <vt:lpstr>Arial</vt:lpstr>
      <vt:lpstr>Calibri</vt:lpstr>
      <vt:lpstr>Californian FB</vt:lpstr>
      <vt:lpstr>Google Sans</vt:lpstr>
      <vt:lpstr>Times New Roman</vt:lpstr>
      <vt:lpstr>Wingdings</vt:lpstr>
      <vt:lpstr>Office Theme</vt:lpstr>
      <vt:lpstr>PROJECT TITLE</vt:lpstr>
      <vt:lpstr>PowerPoint Presentation</vt:lpstr>
      <vt:lpstr>INTRODUCTION</vt:lpstr>
      <vt:lpstr>ABSTRACT</vt:lpstr>
      <vt:lpstr>What is MediaPipe? </vt:lpstr>
      <vt:lpstr>COMPONENTS </vt:lpstr>
      <vt:lpstr>COMPONENT DETAILING</vt:lpstr>
      <vt:lpstr>COMPONENT DETAILING</vt:lpstr>
      <vt:lpstr>COMPONENT DETAILING</vt:lpstr>
      <vt:lpstr>COMPONENT DETAILING</vt:lpstr>
      <vt:lpstr>BLOCK DIAGRAM </vt:lpstr>
      <vt:lpstr>FLOW CHART</vt:lpstr>
      <vt:lpstr>PROPOSED MODEL</vt:lpstr>
      <vt:lpstr>PROPOSED MODEL</vt:lpstr>
      <vt:lpstr>PROPOSED MODEL</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karasani sri siva koti reddy</cp:lastModifiedBy>
  <cp:revision>37</cp:revision>
  <dcterms:created xsi:type="dcterms:W3CDTF">2006-08-16T00:00:00Z</dcterms:created>
  <dcterms:modified xsi:type="dcterms:W3CDTF">2024-08-03T08:13:03Z</dcterms:modified>
</cp:coreProperties>
</file>